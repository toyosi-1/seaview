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1463040"/>
            <a:ext cx="2194560" cy="2194560"/>
          </a:xfrm>
          <a:prstGeom prst="ellipse">
            <a:avLst/>
          </a:prstGeom>
          <a:solidFill>
            <a:srgbClr val="2A5FC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SVP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</a:rPr>
              <a:t>PROPOSAL FOR FEDERAL GOVERNMENT DIGITALIZATION MANDATE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Digital Procurement &amp;
Contractor Management
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605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5FD"/>
                </a:solidFill>
              </a:rPr>
              <a:t>In alignment with the Federal Government's directive to digitalize all parastatal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A8E8"/>
                </a:solidFill>
              </a:rPr>
              <a:t>Sea View Properties Ltd  ·  A Subsidiary of the Nigerian Ports 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C5FD"/>
                </a:solidFill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5FD"/>
                </a:solidFill>
              </a:rPr>
              <a:t>Current challenges &amp; the Federal Government's digitalization mandate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64008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📋  Paper-Based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3852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Proposals, contracts and approvals are managed on paper — slow, error-prone, and hard to track.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30352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64008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572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🔍  No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93852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There is no centralised record of who approved what, when, and why — creating compliance risk.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44368"/>
            <a:ext cx="530352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44368"/>
            <a:ext cx="64008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0540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⏳  Approval Bottlenecks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41985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Multi-stage approvals happen via email and phone calls, causing delays and lost correspondence.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944368"/>
            <a:ext cx="530352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944368"/>
            <a:ext cx="64008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0540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💳  Payment Delays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41985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Contractor payments are processed manually with no structured verification or payment tracking.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47288" y="4425696"/>
            <a:ext cx="530352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47288" y="4425696"/>
            <a:ext cx="64008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45354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🔒  No 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901184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Sensitive financial and procurement data is not protected by role-based permissions.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5FD"/>
                </a:solidFill>
              </a:rPr>
              <a:t>A centralised, role-based digital procurement platform</a:t>
            </a:r>
          </a:p>
        </p:txBody>
      </p:sp>
      <p:sp>
        <p:nvSpPr>
          <p:cNvPr id="5" name="Oval 4"/>
          <p:cNvSpPr/>
          <p:nvPr/>
        </p:nvSpPr>
        <p:spPr>
          <a:xfrm>
            <a:off x="4846320" y="2651760"/>
            <a:ext cx="2377440" cy="11887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Sea View
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194560" cy="822960"/>
          </a:xfrm>
          <a:prstGeom prst="rect">
            <a:avLst/>
          </a:prstGeom>
          <a:solidFill>
            <a:srgbClr val="2A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Contractor
Onboarding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2194560" cy="822960"/>
          </a:xfrm>
          <a:prstGeom prst="rect">
            <a:avLst/>
          </a:prstGeom>
          <a:solidFill>
            <a:srgbClr val="16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Proposal
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371600"/>
            <a:ext cx="219456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Approval
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4754880"/>
            <a:ext cx="219456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Contract
Award &amp; 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194560"/>
            <a:ext cx="219456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Audit &amp;
Compliance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3931920"/>
            <a:ext cx="21945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Payment
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371600"/>
            <a:ext cx="2194560" cy="822960"/>
          </a:xfrm>
          <a:prstGeom prst="rect">
            <a:avLst/>
          </a:prstGeom>
          <a:solidFill>
            <a:srgbClr val="0E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Dashboard &amp;
Reports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754880"/>
            <a:ext cx="2194560" cy="8229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Notifications
&amp;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End-to-End Procurement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5FD"/>
                </a:solidFill>
              </a:rPr>
              <a:t>From contractor registration to payment — fully automated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2103120"/>
            <a:ext cx="12801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417320"/>
            <a:ext cx="1298448" cy="2103120"/>
          </a:xfrm>
          <a:prstGeom prst="rect">
            <a:avLst/>
          </a:prstGeom>
          <a:solidFill>
            <a:srgbClr val="2A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A77D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2075688"/>
            <a:ext cx="1152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Contractor
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2843784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2E8F0"/>
                </a:solidFill>
              </a:rPr>
              <a:t>CAC, TIN, banking docs uploaded &amp;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62656" y="2103120"/>
            <a:ext cx="12801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64208" y="1417320"/>
            <a:ext cx="1298448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3976" y="1554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3AED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075688"/>
            <a:ext cx="1152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Submits
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843784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2E8F0"/>
                </a:solidFill>
              </a:rPr>
              <a:t>Project scope, cost estimate &amp; documents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2103120"/>
            <a:ext cx="12801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72384" y="1417320"/>
            <a:ext cx="1298448" cy="2103120"/>
          </a:xfrm>
          <a:prstGeom prst="rect">
            <a:avLst/>
          </a:prstGeom>
          <a:solidFill>
            <a:srgbClr val="0E7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02152" y="1554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E7AC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2075688"/>
            <a:ext cx="1152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MD Initial
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2843784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2E8F0"/>
                </a:solidFill>
              </a:rPr>
              <a:t>MD approves or returns for clarification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9008" y="2103120"/>
            <a:ext cx="12801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1417320"/>
            <a:ext cx="1298448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10328" y="1554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59669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075688"/>
            <a:ext cx="1152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Procurement
Appraisal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843784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2E8F0"/>
                </a:solidFill>
              </a:rPr>
              <a:t>Officer appraises, Head of Procurement signs 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2103120"/>
            <a:ext cx="12801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88736" y="1417320"/>
            <a:ext cx="1298448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18504" y="1554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3A8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1888" y="2075688"/>
            <a:ext cx="1152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MD Final
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2843784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2E8F0"/>
                </a:solidFill>
              </a:rPr>
              <a:t>Managing Director gives final go-ahead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2103120"/>
            <a:ext cx="12801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417320"/>
            <a:ext cx="1298448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26680" y="1554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97706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4" y="2075688"/>
            <a:ext cx="1152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Contract
Awarded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2843784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2E8F0"/>
                </a:solidFill>
              </a:rPr>
              <a:t>PDF award letter generated &amp; signed digitally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03536" y="2103120"/>
            <a:ext cx="12801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05088" y="1417320"/>
            <a:ext cx="1298448" cy="2103120"/>
          </a:xfrm>
          <a:prstGeom prst="rect">
            <a:avLst/>
          </a:prstGeom>
          <a:solidFill>
            <a:srgbClr val="16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34856" y="1554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6968A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2075688"/>
            <a:ext cx="1152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Completion
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843784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2E8F0"/>
                </a:solidFill>
              </a:rPr>
              <a:t>Contractor submits with images &amp; certificates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13264" y="1417320"/>
            <a:ext cx="129844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3032" y="1554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2626"/>
                </a:solidFill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2075688"/>
            <a:ext cx="1152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Audit &amp;
Payment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6416" y="2843784"/>
            <a:ext cx="11521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2E8F0"/>
                </a:solidFill>
              </a:rPr>
              <a:t>Audit review → Accounts processes payment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D5FD"/>
                </a:solidFill>
              </a:rPr>
              <a:t>Real-time KPIs, recent proposals, and activity feed — tailored per user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5559552"/>
          </a:xfrm>
          <a:prstGeom prst="rect">
            <a:avLst/>
          </a:prstGeom>
          <a:solidFill>
            <a:srgbClr val="05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96112"/>
            <a:ext cx="11201400" cy="5559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669"/>
                </a:solidFill>
              </a:rPr>
              <a:t>Sea View Properties  ·  Procurement Portal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Contractor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D5FD"/>
                </a:solidFill>
              </a:rPr>
              <a:t>All registered contractors with status badges, contact details and quick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5559552"/>
          </a:xfrm>
          <a:prstGeom prst="rect">
            <a:avLst/>
          </a:prstGeom>
          <a:solidFill>
            <a:srgbClr val="05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contr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96112"/>
            <a:ext cx="11201400" cy="5559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669"/>
                </a:solidFill>
              </a:rPr>
              <a:t>Sea View Properties  ·  Procurement Portal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Contractor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D5FD"/>
                </a:solidFill>
              </a:rPr>
              <a:t>Full company info, banking details, documents, and staff action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5559552"/>
          </a:xfrm>
          <a:prstGeom prst="rect">
            <a:avLst/>
          </a:prstGeom>
          <a:solidFill>
            <a:srgbClr val="05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contracto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96112"/>
            <a:ext cx="11201400" cy="5559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669"/>
                </a:solidFill>
              </a:rPr>
              <a:t>Sea View Properties  ·  Procurement Portal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Proposal &amp; Approval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D5FD"/>
                </a:solidFill>
              </a:rPr>
              <a:t>Proposal details, workflow timeline, and role-based action buttons for approvers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5559552"/>
          </a:xfrm>
          <a:prstGeom prst="rect">
            <a:avLst/>
          </a:prstGeom>
          <a:solidFill>
            <a:srgbClr val="05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proposa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96112"/>
            <a:ext cx="11201400" cy="5559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669"/>
                </a:solidFill>
              </a:rPr>
              <a:t>Sea View Properties  ·  Procurement Portal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Payment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AD5FD"/>
                </a:solidFill>
              </a:rPr>
              <a:t>Payment pipeline with amounts, status tracking, and one-click review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5559552"/>
          </a:xfrm>
          <a:prstGeom prst="rect">
            <a:avLst/>
          </a:prstGeom>
          <a:solidFill>
            <a:srgbClr val="05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96112"/>
            <a:ext cx="11201400" cy="5559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669"/>
                </a:solidFill>
              </a:rPr>
              <a:t>Sea View Properties  ·  Procurement Portal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User Roles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5FD"/>
                </a:solidFill>
              </a:rPr>
              <a:t>Every user sees only what they need — enforced at the database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64008" cy="603504"/>
          </a:xfrm>
          <a:prstGeom prst="rect">
            <a:avLst/>
          </a:prstGeom>
          <a:solidFill>
            <a:srgbClr val="2A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7218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</a:rPr>
              <a:t>Contractor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3736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669"/>
                </a:solidFill>
              </a:rPr>
              <a:t>Register · Submit proposals · Upload completions · Track payments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33872" y="1417320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33872" y="1417320"/>
            <a:ext cx="64008" cy="60350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8464" y="147218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</a:rPr>
              <a:t>Managing 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64" y="173736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669"/>
                </a:solidFill>
              </a:rPr>
              <a:t>Initial &amp; final proposal approval · Contractor verification ·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30552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130552"/>
            <a:ext cx="64008" cy="6035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18541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</a:rPr>
              <a:t>Procurement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45059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669"/>
                </a:solidFill>
              </a:rPr>
              <a:t>Appraise proposals · Forward to Head of Procurement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33872" y="2130552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33872" y="2130552"/>
            <a:ext cx="64008" cy="60350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8464" y="218541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</a:rPr>
              <a:t>Head of Procurement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45059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669"/>
                </a:solidFill>
              </a:rPr>
              <a:t>Final procurement review · Reject or approve for MD sign-off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43784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843784"/>
            <a:ext cx="64008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89864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</a:rPr>
              <a:t>Head of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3163824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669"/>
                </a:solidFill>
              </a:rPr>
              <a:t>Review completion reports · Forward to accounts after verification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33872" y="2843784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33872" y="2843784"/>
            <a:ext cx="64008" cy="6035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98464" y="289864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</a:rPr>
              <a:t>Head of 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8464" y="3163824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669"/>
                </a:solidFill>
              </a:rPr>
              <a:t>Process payments · Upload bank transfer evidence · Manage deductions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3557016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11880" y="3557016"/>
            <a:ext cx="64008" cy="603504"/>
          </a:xfrm>
          <a:prstGeom prst="rect">
            <a:avLst/>
          </a:prstGeom>
          <a:solidFill>
            <a:srgbClr val="475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76472" y="361188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</a:rPr>
              <a:t>ICT Administrator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76472" y="3877056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669"/>
                </a:solidFill>
              </a:rPr>
              <a:t>User management · System audit logs · Role assignments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AD5FD"/>
                </a:solidFill>
              </a:rPr>
              <a:t>Built for compliance, transparency and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212080" cy="107899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64008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🔐  Role-Based Access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Supabase Row Level Security — data is filtered at the database, not just the UI.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417320"/>
            <a:ext cx="5212080" cy="107899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417320"/>
            <a:ext cx="64008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📄  PDF Award Letters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20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Auto-generated, digitally signed award letters with MD's uploaded signature.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42616"/>
            <a:ext cx="5212080" cy="107899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642616"/>
            <a:ext cx="64008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34056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📊  Executive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99816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Real-time KPIs: proposals pending, contracts active, payments due — all in one 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642616"/>
            <a:ext cx="5212080" cy="107899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642616"/>
            <a:ext cx="64008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734056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🔔  Real-Time 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99816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Instant alerts for every workflow event — approvals, rejections, awards, payments.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67912"/>
            <a:ext cx="5212080" cy="107899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67912"/>
            <a:ext cx="64008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59352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🛡️  Immutable 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25112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Every action is time-stamped and actor-attributed. Records cannot be edited or deleted.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867912"/>
            <a:ext cx="5212080" cy="107899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3867912"/>
            <a:ext cx="64008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959352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🔎  Universal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25112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Find any contractor, proposal, contract or payment instantly from the top bar.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93208"/>
            <a:ext cx="5212080" cy="107899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093208"/>
            <a:ext cx="64008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84648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📱  Mobile Responsive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50408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Works on phones, tablets and desktops — accessible from anywhere.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5093208"/>
            <a:ext cx="5212080" cy="107899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5093208"/>
            <a:ext cx="64008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184648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</a:rPr>
              <a:t>�  Seamless Integrations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550408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669"/>
                </a:solidFill>
              </a:rPr>
              <a:t>Built on open standards — integrates with existing systems, email and document workflows.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Ready to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AD5FD"/>
                </a:solidFill>
              </a:rPr>
              <a:t>The platform is built and production-ready.
We need approval to connect it to our Supabase account
and go live within 48 hours.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49039"/>
            <a:ext cx="100584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5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48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80390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Connect Supabase credentials &amp; go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343399"/>
            <a:ext cx="100584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8911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39826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Onboard ICT Admin + create staff accounts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37759"/>
            <a:ext cx="100584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9834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99262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Contractor registration &amp; first proposals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32119"/>
            <a:ext cx="100584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57783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Month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586983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Full procurement cycle running on the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DA8E8"/>
                </a:solidFill>
              </a:rPr>
              <a:t>Sea View Properties Ltd  ·  Confidential  ·  July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645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AD5FD"/>
                </a:solidFill>
              </a:rPr>
              <a:t>ICT Department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5328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AD5FD"/>
                </a:solidFill>
              </a:rPr>
              <a:t>Sea View Properties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91693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AD5FD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30098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AD5FD"/>
                </a:solidFill>
              </a:rPr>
              <a:t>📍 Nigerian Ports 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6850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AD5FD"/>
                </a:solidFill>
              </a:rPr>
              <a:t>    Subsidiary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069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AD5FD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4531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AD5FD"/>
                </a:solidFill>
              </a:rPr>
              <a:t>🌐 Platform: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83717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AD5FD"/>
                </a:solidFill>
              </a:rPr>
              <a:t>⏱  Go-Live: 48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